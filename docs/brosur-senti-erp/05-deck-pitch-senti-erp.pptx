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6692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Senti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93C5FD"/>
                </a:solidFill>
                <a:latin typeface="Inter"/>
              </a:rPr>
              <a:t>PITCH DECK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Inter"/>
              </a:rPr>
              <a:t>ERP Lengkap untuk Bisnis Indonesia.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 i="0">
                <a:solidFill>
                  <a:srgbClr val="C7D2FE"/>
                </a:solidFill>
                <a:latin typeface="Inter"/>
              </a:rPr>
              <a:t>Akuntansi, stok, penjualan, dan produksi dalam satu sistem berbasis web. Harga flat, pengguna tak terbatas, implementasi 2 minggu.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949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2.500+ perusahaan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53949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539496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Data di Indonesia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53949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539496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99,9% uptime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93C5FD"/>
                </a:solidFill>
                <a:latin typeface="Inter"/>
              </a:rPr>
              <a:t>PT Senti Teknologi Indonesia  ·  021-5051-5105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</a:rPr>
              <a:t>Apa yang akan kita bahas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484778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77440"/>
            <a:ext cx="2387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Masalah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61488"/>
            <a:ext cx="2387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77"/>
                </a:solidFill>
                <a:latin typeface="Inter"/>
              </a:rPr>
              <a:t>Pain operasional yang lazim dijumpai.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2194560"/>
            <a:ext cx="3484778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3578" y="2377440"/>
            <a:ext cx="2387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Solusi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3578" y="2761488"/>
            <a:ext cx="2387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77"/>
                </a:solidFill>
                <a:latin typeface="Inter"/>
              </a:rPr>
              <a:t>Apa itu Senti ERP dan kenapa beda.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2194560"/>
            <a:ext cx="3484778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5436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77440"/>
            <a:ext cx="2387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Modul &amp; Industri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6956" y="2761488"/>
            <a:ext cx="2387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77"/>
                </a:solidFill>
                <a:latin typeface="Inter"/>
              </a:rPr>
              <a:t>Fitur dan segmen yang dilayani.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3484778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307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749040"/>
            <a:ext cx="2387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Harga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133088"/>
            <a:ext cx="2387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77"/>
                </a:solidFill>
                <a:latin typeface="Inter"/>
              </a:rPr>
              <a:t>Model harga flat, tanpa per user.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3458" y="3566160"/>
            <a:ext cx="3484778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37307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3578" y="3749040"/>
            <a:ext cx="2387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Implementasi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3578" y="4133088"/>
            <a:ext cx="2387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77"/>
                </a:solidFill>
                <a:latin typeface="Inter"/>
              </a:rPr>
              <a:t>Bagaimana onboarding berjalan.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6836" y="3566160"/>
            <a:ext cx="3484778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5436" y="37307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6956" y="3749040"/>
            <a:ext cx="2387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Demo &amp; 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6956" y="4133088"/>
            <a:ext cx="2387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77"/>
                </a:solidFill>
                <a:latin typeface="Inter"/>
              </a:rPr>
              <a:t>Jadwalkan demo &amp; tanya jawab.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MASALAH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172A"/>
                </a:solidFill>
                <a:latin typeface="Inter"/>
              </a:rPr>
              <a:t>Operasional yang menyita waktu &amp; uang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B6477"/>
                </a:solidFill>
                <a:latin typeface="Inter"/>
              </a:rPr>
              <a:t>Empat pain yang kami dengar berulang dari pemilik usaha: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4203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0">
                <a:solidFill>
                  <a:srgbClr val="0F172A"/>
                </a:solidFill>
                <a:latin typeface="Inter"/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054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Tutup buku makan 10 hari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3464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Tim keuangan kejar setoran; angka sering berubah sampai akhir bulan.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0">
                <a:solidFill>
                  <a:srgbClr val="0F172A"/>
                </a:solidFill>
                <a:latin typeface="Inter"/>
              </a:rP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6557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Stok tak cocok dengan pembukuan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9476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Fisik gudang beda dengan catatan Excel — selisih sulit ditelusuri.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0">
                <a:solidFill>
                  <a:srgbClr val="0F172A"/>
                </a:solidFill>
                <a:latin typeface="Inter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4256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Entri ganda antar tim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5488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Penjualan input di satu tempat, keuangan input lagi di tempat lain.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25780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2239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0">
                <a:solidFill>
                  <a:srgbClr val="0F172A"/>
                </a:solidFill>
                <a:latin typeface="Inter"/>
              </a:rPr>
              <a:t>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3858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Software mahal &amp; per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71500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Tambah karyawan = tambah biaya; jadi tidak scale dengan bisnis.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SOLUSI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172A"/>
                </a:solidFill>
                <a:latin typeface="Inter"/>
              </a:rPr>
              <a:t>Bisnis Anda, setelah Senti 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7F1D1D"/>
                </a:solidFill>
                <a:latin typeface="Inter"/>
              </a:rPr>
              <a:t>SEBELUM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7F1D1D"/>
                </a:solidFill>
                <a:latin typeface="Inter"/>
              </a:rPr>
              <a:t>✗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7F1D1D"/>
                </a:solidFill>
                <a:latin typeface="Inter"/>
              </a:rPr>
              <a:t>Tutup buku 10 hari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7F1D1D"/>
                </a:solidFill>
                <a:latin typeface="Inter"/>
              </a:rPr>
              <a:t>✗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7F1D1D"/>
                </a:solidFill>
                <a:latin typeface="Inter"/>
              </a:rPr>
              <a:t>Stok tidak cocok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7F1D1D"/>
                </a:solidFill>
                <a:latin typeface="Inter"/>
              </a:rPr>
              <a:t>✗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7F1D1D"/>
                </a:solidFill>
                <a:latin typeface="Inter"/>
              </a:rPr>
              <a:t>Entri ganda antar 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7F1D1D"/>
                </a:solidFill>
                <a:latin typeface="Inter"/>
              </a:rPr>
              <a:t>✗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7F1D1D"/>
                </a:solidFill>
                <a:latin typeface="Inter"/>
              </a:rPr>
              <a:t>Bayar per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7F1D1D"/>
                </a:solidFill>
                <a:latin typeface="Inter"/>
              </a:rPr>
              <a:t>✗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7F1D1D"/>
                </a:solidFill>
                <a:latin typeface="Inter"/>
              </a:rPr>
              <a:t>Server sendiri rawan mati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01168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1945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65F46"/>
                </a:solidFill>
                <a:latin typeface="Inter"/>
              </a:rPr>
              <a:t>SESUDAH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6974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065F46"/>
                </a:solidFill>
                <a:latin typeface="Inter"/>
              </a:rPr>
              <a:t>Tutup buku 2 hari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24612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065F46"/>
                </a:solidFill>
                <a:latin typeface="Inter"/>
              </a:rPr>
              <a:t>Real-time, auto kartu stok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79476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065F46"/>
                </a:solidFill>
                <a:latin typeface="Inter"/>
              </a:rPr>
              <a:t>Satu data, semua modul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34340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065F46"/>
                </a:solidFill>
                <a:latin typeface="Inter"/>
              </a:rPr>
              <a:t>Harga flat, user tak terbatas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89204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065F46"/>
                </a:solidFill>
                <a:latin typeface="Inter"/>
              </a:rPr>
              <a:t>Cloud + backup harian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Inter"/>
              </a:rPr>
              <a:t>Satu sistem menyatukan data → angka lebih cepat, lebih akurat, lebih murah.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KENAPA SENTI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Inter"/>
              </a:rPr>
              <a:t>Lima keunggulan yang dirasakan langsung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1579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157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F172A"/>
                </a:solidFill>
                <a:latin typeface="Inter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1792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Berbasis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792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Akses dari browser mana pun, tanpa server sendiri.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0944" y="2103120"/>
            <a:ext cx="21579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03120"/>
            <a:ext cx="2157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824" y="242316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F172A"/>
                </a:solidFill>
                <a:latin typeface="Inter"/>
              </a:rP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3474720"/>
            <a:ext cx="1792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User Tak Terbatas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4251960"/>
            <a:ext cx="1792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Satu harga untuk seluruh tim, berapa pun jumlahnya.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103120"/>
            <a:ext cx="21579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1808" y="2103120"/>
            <a:ext cx="2157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242316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F172A"/>
                </a:solidFill>
                <a:latin typeface="Inter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3474720"/>
            <a:ext cx="1792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4251960"/>
            <a:ext cx="1792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Setiap transaksi langsung tercermin di laporan.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2672" y="2103120"/>
            <a:ext cx="21579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62672" y="2103120"/>
            <a:ext cx="2157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242316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F172A"/>
                </a:solidFill>
                <a:latin typeface="Inter"/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3474720"/>
            <a:ext cx="1792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Aman &amp; Teraudit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251960"/>
            <a:ext cx="1792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Enkripsi, backup harian, jejak audit lengkap.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03536" y="2103120"/>
            <a:ext cx="21579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03536" y="2103120"/>
            <a:ext cx="2157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242316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F172A"/>
                </a:solidFill>
                <a:latin typeface="Inter"/>
              </a:rP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3474720"/>
            <a:ext cx="1792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Didampingi Tim Lokal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6416" y="4251960"/>
            <a:ext cx="1792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Setup sampai berjalan — implementasi 2 minggu.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SATU DATA, SEMUA MODUL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Inter"/>
              </a:rPr>
              <a:t>8 modul terintegrasi, tanpa entri ganda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Pelanggan, vendor, item, akun.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0574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22199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Akuntansi &amp; GL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Jurnal otomatis, neraca, laba rugi.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574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22199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INV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Kartu stok multi-gudang, opname.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0574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22199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PUR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Pembelian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PO, penerimaan, hutang.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5935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SLS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Penjualan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0916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Faktur, piutang, harga bertingkat.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379476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395935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MFG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Produksi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470916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BOM, perintah kerja, HPP.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79476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95935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FA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Aset Tetap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70916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Penyusutan, pelacakan aset.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379476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95935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Inter"/>
              </a:rPr>
              <a:t>POS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343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POS &amp; Retail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70916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477"/>
                </a:solidFill>
                <a:latin typeface="Inter"/>
              </a:rPr>
              <a:t>Kasir nyambung ke stok &amp; akuntansi.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Semua modul berbagi satu database — input sekali, terpakai di semua sisi.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SOLUSI PER INDUSTRI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Inter"/>
              </a:rPr>
              <a:t>Konfigurasi siap untuk model bisnis Anda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0F172A"/>
                </a:solidFill>
                <a:latin typeface="Inter"/>
              </a:rPr>
              <a:t>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3113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Manufaktur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BOM, perintah kerja, dan biaya produksi (HPP).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3774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377440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MFG + FIN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0F172A"/>
                </a:solidFill>
                <a:latin typeface="Inter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9125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Distribusi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04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Multi-gudang, harga bertingkat, armada pengiriman.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333756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3337560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INV + PUR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0F172A"/>
                </a:solidFill>
                <a:latin typeface="Inter"/>
              </a:rPr>
              <a:t>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15137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Retail &amp; F&amp;B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805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POS terhubung langsung ke stok dan akuntansi.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42976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4297680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POS + INV + SLS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8348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4807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0F172A"/>
                </a:solidFill>
                <a:latin typeface="Inter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1114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Jasa &amp; Proyek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4406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Biaya per proyek dan penagihan bertahap.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525780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5257800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FIN + SLS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3C5FD"/>
                </a:solidFill>
                <a:latin typeface="Inter"/>
              </a:rPr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93C5FD"/>
                </a:solidFill>
                <a:latin typeface="Inter"/>
              </a:rPr>
              <a:t>BUKAN JANJI — SUDAH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Angka yang bisa diperiksa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6294D"/>
          </a:solidFill>
          <a:ln w="12700">
            <a:solidFill>
              <a:srgbClr val="2A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2.500+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7D2FE"/>
                </a:solidFill>
                <a:latin typeface="Inter"/>
              </a:rPr>
              <a:t>perusahaan pengguna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774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6294D"/>
          </a:solidFill>
          <a:ln w="12700">
            <a:solidFill>
              <a:srgbClr val="2A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8346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15+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7947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7D2FE"/>
                </a:solidFill>
                <a:latin typeface="Inter"/>
              </a:rPr>
              <a:t>industri terlayani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6294D"/>
          </a:solidFill>
          <a:ln w="12700">
            <a:solidFill>
              <a:srgbClr val="2A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99,9%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7D2FE"/>
                </a:solidFill>
                <a:latin typeface="Inter"/>
              </a:rPr>
              <a:t>uptime 12 bulan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37744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6294D"/>
          </a:solidFill>
          <a:ln w="12700">
            <a:solidFill>
              <a:srgbClr val="2A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8346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4,8/5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7947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7D2FE"/>
                </a:solidFill>
                <a:latin typeface="Inter"/>
              </a:rPr>
              <a:t>rating kepuasan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6000"/>
            </a:avLst>
          </a:prstGeom>
          <a:solidFill>
            <a:srgbClr val="16294D"/>
          </a:solidFill>
          <a:ln w="12700">
            <a:solidFill>
              <a:srgbClr val="2A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1">
                <a:solidFill>
                  <a:srgbClr val="FFFFFF"/>
                </a:solidFill>
                <a:latin typeface="Inter"/>
              </a:rPr>
              <a:t>“Tutup buku bulanan dari 10 hari jadi 2 hari. Angkanya sekarang bisa dipercaya.”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3C5FD"/>
                </a:solidFill>
                <a:latin typeface="Inter"/>
              </a:rPr>
              <a:t>Budi Santoso — Direktur Operasional, PT Prima Karya Logem · Surabaya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HARGA FLAT &amp; SEDERHANA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172A"/>
                </a:solidFill>
                <a:latin typeface="Inter"/>
              </a:rPr>
              <a:t>Tanpa biaya per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5B6477"/>
                </a:solidFill>
                <a:latin typeface="Inter"/>
              </a:rPr>
              <a:t>Semua paket termasuk pengguna tak terbatas. Tambah tim tanpa tambah biaya.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350215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D4ED8"/>
                </a:solidFill>
                <a:latin typeface="Inter"/>
              </a:rPr>
              <a:t>Rp 750rb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6477"/>
                </a:solidFill>
                <a:latin typeface="Inter"/>
              </a:rPr>
              <a:t>/bln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Modul FIN, INV, SLS, PUR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2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Pengguna tak terbatas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9704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1 entitas usaha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37176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Dukungan email &amp;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286000"/>
            <a:ext cx="3502152" cy="33832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286000"/>
            <a:ext cx="3502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2" y="212140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12140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Inter"/>
              </a:rPr>
              <a:t>PALING POPULER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51460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97180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D4ED8"/>
                </a:solidFill>
                <a:latin typeface="Inter"/>
              </a:rPr>
              <a:t>Rp 1,5jt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6477"/>
                </a:solidFill>
                <a:latin typeface="Inter"/>
              </a:rPr>
              <a:t>/bln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79476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Semua modul, + MFG &amp; POS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42232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Pengguna tak terbatas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89704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3 entitas usaha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837176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Multi-gudang &amp; cabang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184648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Dukungan prioritas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286000"/>
            <a:ext cx="350215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51460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</a:rP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97180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D4ED8"/>
                </a:solidFill>
                <a:latin typeface="Inter"/>
              </a:rPr>
              <a:t>Kustom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6477"/>
                </a:solidFill>
                <a:latin typeface="Inte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79476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Semua fitur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142232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Entitas tak terbatas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89704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API &amp; integrasi khusus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37176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Inter"/>
              </a:rPr>
              <a:t>✓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Inter"/>
              </a:rPr>
              <a:t>SLA &amp; manajer akun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D4ED8"/>
                </a:solidFill>
                <a:latin typeface="Inter"/>
              </a:rPr>
              <a:t>Semua paket: coba gratis 30 hari · tanpa kartu kredit · implementasi &lt; 2 minggu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IMPLEMENTASI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Inter"/>
              </a:rPr>
              <a:t>Dari nol sampai jalan dalam 2 minggu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35915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Minggu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3113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Setup &amp; Migrasi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Master data &amp; saldo awal diimpor dari template Excel. Tim kami verifikasi bersama Anda.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31927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Minggu 1-2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9125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Pelatihan Tim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20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Sesi training per peran: keuangan, gudang, sales, kasir. Materi + rekaman.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2793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7939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Minggu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5137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Go-Live Bertahap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480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Mulai dari satu modul/unit, lalu roll-out. Dampingan langsung saat transaksi pertama.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23951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395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Inter"/>
              </a:rPr>
              <a:t>Berkelanjutan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1114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</a:rPr>
              <a:t>Dukungan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4068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Email, chat, dan (paket Business+) dukungan prioritas + pendampingan berkelanjutan.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7"/>
                </a:solidFill>
                <a:latin typeface="Inter"/>
              </a:rPr>
              <a:t>Migrasi dari spreadsheet? Kami periksa hasil impor Excel bersama Anda — bukan self-service.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477"/>
                </a:solidFill>
                <a:latin typeface="Inter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KENAPA BUKAN YANG 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Inter"/>
              </a:rPr>
              <a:t>Empat pembeda yang kami pertahankan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585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Harga flat, bukan per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Kompetitor umumnya nagih per user → makin lama makin mahal. Kami tidak.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2724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27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Implementasi cepat (1–2 minggu)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3814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Dengan dampingan tim lokal — bukan self-service yang menyatroni.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9592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9959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Data tersimpan di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0682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Kepatuhan UU PDP, latency, kedaulatan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864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Satu data, semua modul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17550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477"/>
                </a:solidFill>
                <a:latin typeface="Inter"/>
              </a:rPr>
              <a:t>Tanpa entri ganda, tanpa silo antar departemen.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190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Senti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3C5FD"/>
                </a:solidFill>
                <a:latin typeface="Inter"/>
              </a:rP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93C5FD"/>
                </a:solidFill>
                <a:latin typeface="Inter"/>
              </a:rPr>
              <a:t>LANGKAH BERIKUTNYA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Inter"/>
              </a:rPr>
              <a:t>Jadwalkan Demo Gratis.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C7D2FE"/>
                </a:solidFill>
                <a:latin typeface="Inter"/>
              </a:rPr>
              <a:t>20 menit demo berbasis kasus bisnis Anda. Lihat langsung modul yang relevan, tanya jawab, lalu coba gratis 30 hari.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336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6294D"/>
          </a:solidFill>
          <a:ln w="12700">
            <a:solidFill>
              <a:srgbClr val="2A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3C5FD"/>
                </a:solidFill>
                <a:latin typeface="Inter"/>
              </a:rPr>
              <a:t>📞 Telepon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Inter"/>
              </a:rPr>
              <a:t>021-5051-5105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1605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3C5FD"/>
                </a:solidFill>
                <a:latin typeface="Inter"/>
              </a:rPr>
              <a:t>🌐 PT Senti Teknologi Indonesia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5262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Inter"/>
              </a:rPr>
              <a:t>Coba Gratis 30 Hari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93C5FD"/>
                </a:solidFill>
                <a:latin typeface="Inter"/>
              </a:rPr>
              <a:t>Terima kasih.  ·  Implementasi &lt; 2 minggu · Tanpa biaya per pengguna · Data di Indonesia.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